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54864" cy="514350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24144" y="0"/>
            <a:ext cx="3419856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5" name="Image 0" descr="/home/claude/emi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1318656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5156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AFE Cost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Platform for Engineering Firms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Oil &amp; Gas Drilling Programs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364992"/>
            <a:ext cx="109728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entermyinvoice.com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731520"/>
            <a:ext cx="2651760" cy="1115568"/>
          </a:xfrm>
          <a:prstGeom prst="rect">
            <a:avLst/>
          </a:prstGeom>
          <a:solidFill>
            <a:srgbClr val="1E3D5C"/>
          </a:solidFill>
          <a:ln w="12700">
            <a:solidFill>
              <a:srgbClr val="2E5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36208" y="82296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24,000+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236208" y="1298448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drilled in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Canada (2020–24)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2121408"/>
            <a:ext cx="2651760" cy="1115568"/>
          </a:xfrm>
          <a:prstGeom prst="rect">
            <a:avLst/>
          </a:prstGeom>
          <a:solidFill>
            <a:srgbClr val="1E3D5C"/>
          </a:solidFill>
          <a:ln w="12700">
            <a:solidFill>
              <a:srgbClr val="2E5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36208" y="221284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45–90 min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236208" y="2688336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admin time lost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wellsite supervisor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511296"/>
            <a:ext cx="2651760" cy="1115568"/>
          </a:xfrm>
          <a:prstGeom prst="rect">
            <a:avLst/>
          </a:prstGeom>
          <a:solidFill>
            <a:srgbClr val="1E3D5C"/>
          </a:solidFill>
          <a:ln w="12700">
            <a:solidFill>
              <a:srgbClr val="2E5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36208" y="3602736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days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236208" y="4078224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DSO for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oilfield service companies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8188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Prepared for Engineering Firm Discussion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pic>
        <p:nvPicPr>
          <p:cNvPr id="3" name="Image 0" descr="/home/claude/emi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120858" cy="295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417320"/>
            <a:ext cx="27249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417320"/>
            <a:ext cx="2724912" cy="502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8056" y="149961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0392" y="14996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8056" y="18562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manual cost management is costing engineering firms time, money, and contracts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1417320"/>
            <a:ext cx="27249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1417320"/>
            <a:ext cx="2724912" cy="502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92424" y="149961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794760" y="14996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EMI Platform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92424" y="18562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field ticket capture, real-time AFE dashboards, and automated invoice routing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08776" y="1417320"/>
            <a:ext cx="27249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08776" y="1417320"/>
            <a:ext cx="2724912" cy="502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36792" y="149961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739128" y="14996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AFE Cost Dashboard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36792" y="185623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demo view of what your operators see — and what you control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2743200"/>
            <a:ext cx="27249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" y="2743200"/>
            <a:ext cx="2724912" cy="502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8056" y="282549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50392" y="282549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Benefit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48056" y="318211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more contracts, reducing admin burden, and creating service company leverage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64408" y="2743200"/>
            <a:ext cx="27249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64408" y="2743200"/>
            <a:ext cx="2724912" cy="502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92424" y="282549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3794760" y="282549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392424" y="318211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program, onboarding, and what a first well looks like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 |  entermyinvoice.com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Cost Management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Holding Engineering Firms Back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4114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0817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Man's Daily Reality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82880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013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paper tickets from 8–12 service companies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22199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94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quantities, rates, and service descriptions on each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61518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5877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paper tickets — some unsigned, some missing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008376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809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all costs into a spreadsheet by AFE line item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340156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741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against yesterday's running total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379476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767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morning cost report to operator before 8am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418795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605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every single day for the life of the well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389888"/>
            <a:ext cx="19933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389888"/>
            <a:ext cx="1993392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896" y="1517904"/>
            <a:ext cx="329184" cy="32918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285232" y="14813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45–90 min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882896" y="1938528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daily to admin tasks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wellsite supervisor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922008" y="1389888"/>
            <a:ext cx="19933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922008" y="1389888"/>
            <a:ext cx="1993392" cy="50292"/>
          </a:xfrm>
          <a:prstGeom prst="rect">
            <a:avLst/>
          </a:prstGeom>
          <a:solidFill>
            <a:srgbClr val="D4811A"/>
          </a:solidFill>
          <a:ln w="12700">
            <a:solidFill>
              <a:srgbClr val="D4811A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517904"/>
            <a:ext cx="329184" cy="32918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452360" y="14813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hr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7050024" y="1938528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before operator sees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data from the rig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754880" y="3081528"/>
            <a:ext cx="19933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754880" y="3081528"/>
            <a:ext cx="1993392" cy="50292"/>
          </a:xfrm>
          <a:prstGeom prst="rect">
            <a:avLst/>
          </a:prstGeom>
          <a:solidFill>
            <a:srgbClr val="D4811A"/>
          </a:solidFill>
          <a:ln w="12700">
            <a:solidFill>
              <a:srgbClr val="D4811A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3209544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285232" y="31729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days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4882896" y="3630168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DSO — service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wait to be paid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922008" y="3081528"/>
            <a:ext cx="19933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922008" y="3081528"/>
            <a:ext cx="1993392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3209544"/>
            <a:ext cx="329184" cy="329184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452360" y="31729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2000" dirty="0"/>
          </a:p>
        </p:txBody>
      </p:sp>
      <p:sp>
        <p:nvSpPr>
          <p:cNvPr id="41" name="Text 35"/>
          <p:cNvSpPr/>
          <p:nvPr/>
        </p:nvSpPr>
        <p:spPr>
          <a:xfrm>
            <a:off x="7050024" y="3630168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 overruns discovered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it's too late to act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 |  entermyinvoice.com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Paper Ticket Becomes a Payment —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08813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108813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" y="1426464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Delivered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4904" y="1700784"/>
            <a:ext cx="97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at wellsite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17320" y="1618488"/>
            <a:ext cx="54864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463040" y="1115568"/>
            <a:ext cx="108813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63040" y="1115568"/>
            <a:ext cx="108813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13385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17904" y="1426464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Ticket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17904" y="1700784"/>
            <a:ext cx="97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rep writes field ticket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0" y="1618488"/>
            <a:ext cx="54864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606040" y="1115568"/>
            <a:ext cx="108813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06040" y="1115568"/>
            <a:ext cx="1088136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13385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60904" y="1426464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Signs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60904" y="1700784"/>
            <a:ext cx="97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man signs — if found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03320" y="1618488"/>
            <a:ext cx="54864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749040" y="1115568"/>
            <a:ext cx="108813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49040" y="1115568"/>
            <a:ext cx="1088136" cy="274320"/>
          </a:xfrm>
          <a:prstGeom prst="rect">
            <a:avLst/>
          </a:prstGeom>
          <a:solidFill>
            <a:srgbClr val="D4811A"/>
          </a:solidFill>
          <a:ln w="12700">
            <a:solidFill>
              <a:srgbClr val="D481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113385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03904" y="1426464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Transmitted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03904" y="1700784"/>
            <a:ext cx="97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/ emailed to office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1618488"/>
            <a:ext cx="54864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892040" y="1115568"/>
            <a:ext cx="108813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1115568"/>
            <a:ext cx="1088136" cy="274320"/>
          </a:xfrm>
          <a:prstGeom prst="rect">
            <a:avLst/>
          </a:prstGeom>
          <a:solidFill>
            <a:srgbClr val="D4811A"/>
          </a:solidFill>
          <a:ln w="12700">
            <a:solidFill>
              <a:srgbClr val="D481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13385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46904" y="1426464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46904" y="1700784"/>
            <a:ext cx="97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re-keys to portal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89320" y="1618488"/>
            <a:ext cx="54864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035040" y="1115568"/>
            <a:ext cx="108813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1115568"/>
            <a:ext cx="1088136" cy="274320"/>
          </a:xfrm>
          <a:prstGeom prst="rect">
            <a:avLst/>
          </a:prstGeom>
          <a:solidFill>
            <a:srgbClr val="D4811A"/>
          </a:solidFill>
          <a:ln w="12700">
            <a:solidFill>
              <a:srgbClr val="D481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13385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9904" y="1426464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Review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89904" y="1700784"/>
            <a:ext cx="97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logs in — portal by portal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32320" y="1618488"/>
            <a:ext cx="54864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178040" y="1115568"/>
            <a:ext cx="108813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78040" y="1115568"/>
            <a:ext cx="1088136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78040" y="113385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32904" y="1426464"/>
            <a:ext cx="978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32904" y="1700784"/>
            <a:ext cx="97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days after service delivery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0040" y="2286000"/>
            <a:ext cx="8503920" cy="36576"/>
          </a:xfrm>
          <a:prstGeom prst="rect">
            <a:avLst/>
          </a:prstGeom>
          <a:solidFill>
            <a:srgbClr val="E8EBF0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23591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29600" y="23591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55+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2651760"/>
            <a:ext cx="2788920" cy="1783080"/>
          </a:xfrm>
          <a:prstGeom prst="rect">
            <a:avLst/>
          </a:prstGeom>
          <a:solidFill>
            <a:srgbClr val="FFF2F2"/>
          </a:solidFill>
          <a:ln w="12700">
            <a:solidFill>
              <a:srgbClr val="F0CE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" y="2651760"/>
            <a:ext cx="50292" cy="1783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" y="2706624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Fly Blind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66344" y="3017520"/>
            <a:ext cx="254203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AFE visibility. The drilling engineer finds out about an overrun 24 hours after it happens — often too late to course-correct.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64408" y="2651760"/>
            <a:ext cx="2788920" cy="1783080"/>
          </a:xfrm>
          <a:prstGeom prst="rect">
            <a:avLst/>
          </a:prstGeom>
          <a:solidFill>
            <a:srgbClr val="FFF2F2"/>
          </a:solidFill>
          <a:ln w="12700">
            <a:solidFill>
              <a:srgbClr val="F0CE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64408" y="2651760"/>
            <a:ext cx="50292" cy="1783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10712" y="2706624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Stall Payment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410712" y="3017520"/>
            <a:ext cx="254203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paper tickets and status code disagreements create invoice holds that cascade across the entire well, locking up service company cash for weeks.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08776" y="2651760"/>
            <a:ext cx="2788920" cy="1783080"/>
          </a:xfrm>
          <a:prstGeom prst="rect">
            <a:avLst/>
          </a:prstGeom>
          <a:solidFill>
            <a:srgbClr val="FFF2F2"/>
          </a:solidFill>
          <a:ln w="12700">
            <a:solidFill>
              <a:srgbClr val="F0CE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208776" y="2651760"/>
            <a:ext cx="50292" cy="1783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2706624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Crowds Out Engineering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355080" y="3017520"/>
            <a:ext cx="254203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Wellsite supervisors spend an hour a day on cost paperwork instead of supervising the rig. That is what the operator is actually paying for.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 |  entermyinvoice.com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— Three Capabilities That Change Everything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88920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788920" cy="54864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18872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" y="1645920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Field Ticket Capture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Electronic Signature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4632" y="2340864"/>
            <a:ext cx="118872" cy="118872"/>
          </a:xfrm>
          <a:prstGeom prst="ellipse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2295144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reps submit tickets digitally at the wellsite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4632" y="2779776"/>
            <a:ext cx="118872" cy="118872"/>
          </a:xfrm>
          <a:prstGeom prst="ellipse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273405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reviews and signs on a mobile device — in seconds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84632" y="3218688"/>
            <a:ext cx="118872" cy="118872"/>
          </a:xfrm>
          <a:prstGeom prst="ellipse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" y="317296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Timestamped, geolocation-tagged, dispute-proof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84632" y="3657600"/>
            <a:ext cx="118872" cy="118872"/>
          </a:xfrm>
          <a:prstGeom prst="ellipse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" y="3611880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 tickets and manual collection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4632" y="4096512"/>
            <a:ext cx="118872" cy="118872"/>
          </a:xfrm>
          <a:prstGeom prst="ellipse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405079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— syncs when connectivity returns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64408" y="1078992"/>
            <a:ext cx="2788920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64408" y="1078992"/>
            <a:ext cx="278892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402336" cy="4023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92424" y="1645920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AFE Dashboard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Automatic Coding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3429000" y="2340864"/>
            <a:ext cx="118872" cy="1188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11880" y="2295144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ticket auto-codes to the correct AFE line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29000" y="2779776"/>
            <a:ext cx="118872" cy="1188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11880" y="273405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actual vs. budget by line item, updated instantly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429000" y="3218688"/>
            <a:ext cx="118872" cy="1188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11880" y="317296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and Magus see the same data at the same time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429000" y="3657600"/>
            <a:ext cx="118872" cy="1188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611880" y="3611880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alerts fire when a category approaches AFE limit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429000" y="4096512"/>
            <a:ext cx="118872" cy="1188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11880" y="405079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morning report required — operator self-serves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208776" y="1078992"/>
            <a:ext cx="2788920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208776" y="1078992"/>
            <a:ext cx="2788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188720"/>
            <a:ext cx="402336" cy="40233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336792" y="1645920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Invoice Routing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Portal Submission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6373368" y="2340864"/>
            <a:ext cx="118872" cy="1188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556248" y="2295144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ticket auto-converts to a formatted invoice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6373368" y="2779776"/>
            <a:ext cx="118872" cy="1188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556248" y="2734056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operator portal same day — OpenInvoice, Ariba, etc.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373368" y="3218688"/>
            <a:ext cx="118872" cy="1188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556248" y="317296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match automated: PO + ticket + invoice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6373368" y="3657600"/>
            <a:ext cx="118872" cy="1188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556248" y="3611880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companies receive payment 15–25 days faster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6373368" y="4096512"/>
            <a:ext cx="118872" cy="1188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556248" y="405079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firm's own fees tracked in the same platform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 |  entermyinvoice.com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CostTrack™  |  LIVE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834640" y="3657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Clearwater 14-22-065-05W5  |  Whitecap Resources  ·  Magus Engineering  ·  Day 29 of 34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28600" y="530352"/>
            <a:ext cx="2011680" cy="841248"/>
          </a:xfrm>
          <a:prstGeom prst="rect">
            <a:avLst/>
          </a:prstGeom>
          <a:solidFill>
            <a:srgbClr val="162538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530352"/>
            <a:ext cx="2011680" cy="411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66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 Budget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758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$4.82M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April 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14016" y="530352"/>
            <a:ext cx="2011680" cy="841248"/>
          </a:xfrm>
          <a:prstGeom prst="rect">
            <a:avLst/>
          </a:prstGeom>
          <a:solidFill>
            <a:srgbClr val="162538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14016" y="530352"/>
            <a:ext cx="2011680" cy="41148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566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Spend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05456" y="758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$3.41M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505456" y="11155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 of AFE used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99432" y="530352"/>
            <a:ext cx="2011680" cy="841248"/>
          </a:xfrm>
          <a:prstGeom prst="rect">
            <a:avLst/>
          </a:prstGeom>
          <a:solidFill>
            <a:srgbClr val="162538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9432" y="530352"/>
            <a:ext cx="201168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566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90872" y="758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$3.87M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690872" y="11155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not yet invoiced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84848" y="530352"/>
            <a:ext cx="2011680" cy="841248"/>
          </a:xfrm>
          <a:prstGeom prst="rect">
            <a:avLst/>
          </a:prstGeom>
          <a:solidFill>
            <a:srgbClr val="162538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530352"/>
            <a:ext cx="2011680" cy="411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566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Final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76288" y="758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$4.97M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876288" y="11155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+$150K over AFE  ▲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" y="1463040"/>
            <a:ext cx="5120640" cy="2304288"/>
          </a:xfrm>
          <a:prstGeom prst="rect">
            <a:avLst/>
          </a:prstGeom>
          <a:solidFill>
            <a:srgbClr val="162538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151790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 Line Item Performance — Day 29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1801368"/>
            <a:ext cx="5120640" cy="21945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18105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Category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993392" y="181051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633472" y="1810512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46120" y="181051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Used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931920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8600" y="2039112"/>
            <a:ext cx="5120640" cy="26517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0756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Contractor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993392" y="207568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$1.42M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33472" y="2075688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$1.11M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46120" y="2112264"/>
            <a:ext cx="621792" cy="109728"/>
          </a:xfrm>
          <a:prstGeom prst="rect">
            <a:avLst/>
          </a:prstGeom>
          <a:solidFill>
            <a:srgbClr val="24355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2112264"/>
            <a:ext cx="484998" cy="109728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77056" y="2075688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224528" y="206654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28600" y="2313432"/>
            <a:ext cx="5120640" cy="265176"/>
          </a:xfrm>
          <a:prstGeom prst="rect">
            <a:avLst/>
          </a:prstGeom>
          <a:solidFill>
            <a:srgbClr val="162538"/>
          </a:solidFill>
          <a:ln w="12700">
            <a:solidFill>
              <a:srgbClr val="1625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3500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Drilling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993392" y="235000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33472" y="2350008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46120" y="2386584"/>
            <a:ext cx="621792" cy="109728"/>
          </a:xfrm>
          <a:prstGeom prst="rect">
            <a:avLst/>
          </a:prstGeom>
          <a:solidFill>
            <a:srgbClr val="24355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46120" y="2386584"/>
            <a:ext cx="503652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77056" y="2350008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224528" y="234086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28600" y="2587752"/>
            <a:ext cx="5120640" cy="26517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26243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Fluids / Mud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993392" y="262432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$380K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33472" y="2624328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$341K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46120" y="2660904"/>
            <a:ext cx="621792" cy="109728"/>
          </a:xfrm>
          <a:prstGeom prst="rect">
            <a:avLst/>
          </a:prstGeom>
          <a:solidFill>
            <a:srgbClr val="24355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46120" y="2660904"/>
            <a:ext cx="559613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77056" y="2624328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224528" y="261518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OVER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28600" y="2862072"/>
            <a:ext cx="5120640" cy="265176"/>
          </a:xfrm>
          <a:prstGeom prst="rect">
            <a:avLst/>
          </a:prstGeom>
          <a:solidFill>
            <a:srgbClr val="162538"/>
          </a:solidFill>
          <a:ln w="12700">
            <a:solidFill>
              <a:srgbClr val="16253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289864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Cementing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993392" y="289864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$185K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633472" y="2898648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$118K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46120" y="2935224"/>
            <a:ext cx="621792" cy="109728"/>
          </a:xfrm>
          <a:prstGeom prst="rect">
            <a:avLst/>
          </a:prstGeom>
          <a:solidFill>
            <a:srgbClr val="24355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46120" y="2935224"/>
            <a:ext cx="397947" cy="109728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77056" y="2898648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224528" y="288950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28600" y="3136392"/>
            <a:ext cx="5120640" cy="26517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17296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 &amp; Tubulars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993392" y="317296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$580K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633472" y="3172968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$497K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46120" y="3209544"/>
            <a:ext cx="621792" cy="109728"/>
          </a:xfrm>
          <a:prstGeom prst="rect">
            <a:avLst/>
          </a:prstGeom>
          <a:solidFill>
            <a:srgbClr val="24355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46120" y="3209544"/>
            <a:ext cx="534741" cy="109728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77056" y="3172968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224528" y="316382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28600" y="3410712"/>
            <a:ext cx="5120640" cy="265176"/>
          </a:xfrm>
          <a:prstGeom prst="rect">
            <a:avLst/>
          </a:prstGeom>
          <a:solidFill>
            <a:srgbClr val="162538"/>
          </a:solidFill>
          <a:ln w="12700">
            <a:solidFill>
              <a:srgbClr val="16253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34472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Tools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993392" y="344728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$142K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633472" y="3447288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$107K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46120" y="3483864"/>
            <a:ext cx="621792" cy="109728"/>
          </a:xfrm>
          <a:prstGeom prst="rect">
            <a:avLst/>
          </a:prstGeom>
          <a:solidFill>
            <a:srgbClr val="24355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46120" y="3483864"/>
            <a:ext cx="466344" cy="109728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77056" y="3447288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224528" y="343814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5532120" y="1463040"/>
            <a:ext cx="3383280" cy="2304288"/>
          </a:xfrm>
          <a:prstGeom prst="rect">
            <a:avLst/>
          </a:prstGeom>
          <a:solidFill>
            <a:srgbClr val="162538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50992" y="151790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650992" y="1828800"/>
            <a:ext cx="3127248" cy="420624"/>
          </a:xfrm>
          <a:prstGeom prst="rect">
            <a:avLst/>
          </a:prstGeom>
          <a:solidFill>
            <a:srgbClr val="1A2E42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50992" y="1828800"/>
            <a:ext cx="41148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42432" y="1847088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 Fluids — Trending Over AFE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742432" y="2039112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$47K above budget at Day 29. Projected +$68K overrun at TD.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650992" y="2304288"/>
            <a:ext cx="3127248" cy="420624"/>
          </a:xfrm>
          <a:prstGeom prst="rect">
            <a:avLst/>
          </a:prstGeom>
          <a:solidFill>
            <a:srgbClr val="1A2E42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50992" y="2304288"/>
            <a:ext cx="41148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742432" y="2322576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NPT Rate 8.2% vs 5.0% Target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742432" y="2514600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pipe event Day 26. Operator absorbing 8.8 hrs standby.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5650992" y="2779776"/>
            <a:ext cx="3127248" cy="420624"/>
          </a:xfrm>
          <a:prstGeom prst="rect">
            <a:avLst/>
          </a:prstGeom>
          <a:solidFill>
            <a:srgbClr val="1A2E42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650992" y="2779776"/>
            <a:ext cx="41148" cy="420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42432" y="2798064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— Watch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742432" y="2990088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AFE used with 19% program remaining. Monitor closely.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5650992" y="3255264"/>
            <a:ext cx="3127248" cy="420624"/>
          </a:xfrm>
          <a:prstGeom prst="rect">
            <a:avLst/>
          </a:prstGeom>
          <a:solidFill>
            <a:srgbClr val="1A2E42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650992" y="3255264"/>
            <a:ext cx="41148" cy="420624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742432" y="3273552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Rig — Below Budget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742432" y="3465576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 m/day vs 260 m AFE. Saving est. $84K vs budget.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228600" y="3840480"/>
            <a:ext cx="8686800" cy="566928"/>
          </a:xfrm>
          <a:prstGeom prst="rect">
            <a:avLst/>
          </a:prstGeom>
          <a:solidFill>
            <a:srgbClr val="162538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47472" y="38587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Phase Progress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347472" y="4069080"/>
            <a:ext cx="113385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47472" y="40690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Hole ✓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563624" y="4069080"/>
            <a:ext cx="113385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563624" y="40690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✓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2779776" y="4069080"/>
            <a:ext cx="113385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779776" y="40690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/ KOP ✓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3995928" y="4069080"/>
            <a:ext cx="1133856" cy="27432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995928" y="40690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Lateral NOW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5212080" y="4069080"/>
            <a:ext cx="1133856" cy="274320"/>
          </a:xfrm>
          <a:prstGeom prst="rect">
            <a:avLst/>
          </a:prstGeom>
          <a:solidFill>
            <a:srgbClr val="24355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212080" y="40690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 &amp; Cement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6428232" y="4069080"/>
            <a:ext cx="1133856" cy="274320"/>
          </a:xfrm>
          <a:prstGeom prst="rect">
            <a:avLst/>
          </a:prstGeom>
          <a:solidFill>
            <a:srgbClr val="24355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428232" y="40690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7644384" y="4069080"/>
            <a:ext cx="1133856" cy="274320"/>
          </a:xfrm>
          <a:prstGeom prst="rect">
            <a:avLst/>
          </a:prstGeom>
          <a:solidFill>
            <a:srgbClr val="243550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644384" y="40690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Release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228600" y="443484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Updates the moment each ticket is approved at the rig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EMI vs. After EMI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834640" y="1051560"/>
            <a:ext cx="283464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10515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EMI  (Today)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97880" y="1051560"/>
            <a:ext cx="2926080" cy="310896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105156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EMI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426464"/>
            <a:ext cx="2468880" cy="621792"/>
          </a:xfrm>
          <a:prstGeom prst="rect">
            <a:avLst/>
          </a:prstGeom>
          <a:solidFill>
            <a:srgbClr val="F0F3F7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Ticket Capture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34640" y="1426464"/>
            <a:ext cx="28346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0CE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47218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tickets collected at end of shift — lost, wet, or unsigned. 45–90 min/day per supervisor.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97880" y="1426464"/>
            <a:ext cx="2926080" cy="621792"/>
          </a:xfrm>
          <a:prstGeom prst="rect">
            <a:avLst/>
          </a:prstGeom>
          <a:solidFill>
            <a:srgbClr val="D5E8F0"/>
          </a:solidFill>
          <a:ln w="12700">
            <a:solidFill>
              <a:srgbClr val="BCDA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426464"/>
            <a:ext cx="41148" cy="6217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1472184"/>
            <a:ext cx="2724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8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tickets submitted at moment of service. Supervisor approves on mobile in seconds. Timestamped and signed.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103120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57984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 Status for Operator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34640" y="2103120"/>
            <a:ext cx="28346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0CE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1488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email with yesterday's data. 12–24 hour lag. Operator calls to ask where they stand against budget.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97880" y="2103120"/>
            <a:ext cx="2926080" cy="621792"/>
          </a:xfrm>
          <a:prstGeom prst="rect">
            <a:avLst/>
          </a:prstGeom>
          <a:solidFill>
            <a:srgbClr val="D5E8F0"/>
          </a:solidFill>
          <a:ln w="12700">
            <a:solidFill>
              <a:srgbClr val="BCDA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2103120"/>
            <a:ext cx="41148" cy="6217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2148840"/>
            <a:ext cx="2724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8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dashboard. Operator logs in anytime. Sees actual vs. AFE by line item updated in real time.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2468880" cy="621792"/>
          </a:xfrm>
          <a:prstGeom prst="rect">
            <a:avLst/>
          </a:prstGeom>
          <a:solidFill>
            <a:srgbClr val="F0F3F7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834640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Company Invoicing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34640" y="2779776"/>
            <a:ext cx="28346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0CE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2825496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ticket → scan/email → manual portal entry → approval → payment. DSO: 55–75 days.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97880" y="2779776"/>
            <a:ext cx="2926080" cy="621792"/>
          </a:xfrm>
          <a:prstGeom prst="rect">
            <a:avLst/>
          </a:prstGeom>
          <a:solidFill>
            <a:srgbClr val="D5E8F0"/>
          </a:solidFill>
          <a:ln w="12700">
            <a:solidFill>
              <a:srgbClr val="BCDA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2779776"/>
            <a:ext cx="41148" cy="6217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98464" y="2825496"/>
            <a:ext cx="2724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8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ticket → auto-formatted invoice → auto-submitted to portal same day. DSO: 35–45 days.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456432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511296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Disputes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3456432"/>
            <a:ext cx="28346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0CE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350215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disputes, lost tickets, quantity disagreements. Payment held for weeks. He-said-she-said.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97880" y="3456432"/>
            <a:ext cx="2926080" cy="621792"/>
          </a:xfrm>
          <a:prstGeom prst="rect">
            <a:avLst/>
          </a:prstGeom>
          <a:solidFill>
            <a:srgbClr val="D5E8F0"/>
          </a:solidFill>
          <a:ln w="12700">
            <a:solidFill>
              <a:srgbClr val="BCDA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3456432"/>
            <a:ext cx="41148" cy="6217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98464" y="3502152"/>
            <a:ext cx="2724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8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timestamp and real-time sign-off. Dispute rate drops by 60%+. Payment flows without holds.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133088"/>
            <a:ext cx="2468880" cy="621792"/>
          </a:xfrm>
          <a:prstGeom prst="rect">
            <a:avLst/>
          </a:prstGeom>
          <a:solidFill>
            <a:srgbClr val="F0F3F7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18795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Completion Report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34640" y="4133088"/>
            <a:ext cx="28346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0CE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417880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day manual exercise matching hundreds of tickets, invoices, and POs. Frequent discrepancies.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897880" y="4133088"/>
            <a:ext cx="2926080" cy="621792"/>
          </a:xfrm>
          <a:prstGeom prst="rect">
            <a:avLst/>
          </a:prstGeom>
          <a:solidFill>
            <a:srgbClr val="D5E8F0"/>
          </a:solidFill>
          <a:ln w="12700">
            <a:solidFill>
              <a:srgbClr val="BCDA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4133088"/>
            <a:ext cx="41148" cy="6217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98464" y="4178808"/>
            <a:ext cx="2724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8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reconciliation at well TD. Complete, audit-ready cost report generated in minutes.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 |  entermyinvoice.com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BENEFIT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Engineering Firms Choose EMI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2452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50292" cy="1133856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22529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704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More Contracts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1463040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 live AFE dashboard in bid presentations. Show operators real-time cost transparency competitors can't match. Turn a commodity service into a differentiated offering.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2340864"/>
            <a:ext cx="422452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340864"/>
            <a:ext cx="50292" cy="11338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24871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24323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Without Headcount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68680" y="2724912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 more concurrent wells without proportional back-office growth. EMI absorbs the administrative volume increase — your supervisors focus on engineering.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3602736"/>
            <a:ext cx="422452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602736"/>
            <a:ext cx="50292" cy="11338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37490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36941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Company Rate Savings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68680" y="3986784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ticket approvals = faster payment for service companies. Use your 35-day DSO vs. the 58-day basin average to negotiate preferred rates and priority mobilization.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800600" y="1078992"/>
            <a:ext cx="422452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1078992"/>
            <a:ext cx="50292" cy="113385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22529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11704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Cost Intelligence Asset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349240" y="1463040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well builds a structured database of vendor rates, AFE accuracy, NPT contributions, and cost-per-metre. Each well makes the next bid and negotiation sharper.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800600" y="2340864"/>
            <a:ext cx="422452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00600" y="2340864"/>
            <a:ext cx="50292" cy="1133856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248716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9240" y="24323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Day Rate &amp; Reputation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349240" y="2724912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timestamp and real-time approvals eliminate the most common invoice disputes. You get paid correctly, on time, without back-and-forth that damages relationships.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800600" y="3602736"/>
            <a:ext cx="4224528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00600" y="3602736"/>
            <a:ext cx="50292" cy="11338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3749040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49240" y="36941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Operator Relationships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349240" y="3986784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who see their AFE in real time never feel surprised. You become the engineering firm that actively reduces their financial risk — earning longer multi-well programs.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 |  entermyinvoice.com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Value for a 10-Well Program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mid-size engineering contractor managing 10 wells annually at $5M AFE each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993392" cy="1627632"/>
          </a:xfrm>
          <a:prstGeom prst="rect">
            <a:avLst/>
          </a:prstGeom>
          <a:solidFill>
            <a:srgbClr val="1E3D5C"/>
          </a:solidFill>
          <a:ln w="12700">
            <a:solidFill>
              <a:srgbClr val="2E5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1993392" cy="502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min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daily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supervisor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on engineering, not paperwork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33472" y="1298448"/>
            <a:ext cx="1993392" cy="1627632"/>
          </a:xfrm>
          <a:prstGeom prst="rect">
            <a:avLst/>
          </a:prstGeom>
          <a:solidFill>
            <a:srgbClr val="1E3D5C"/>
          </a:solidFill>
          <a:ln w="12700">
            <a:solidFill>
              <a:srgbClr val="2E5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298448"/>
            <a:ext cx="1993392" cy="50292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371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$375K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24912" y="18470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(DSO -20 days)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24912" y="2377440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$500K/month in service billings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09744" y="1298448"/>
            <a:ext cx="1993392" cy="1627632"/>
          </a:xfrm>
          <a:prstGeom prst="rect">
            <a:avLst/>
          </a:prstGeom>
          <a:solidFill>
            <a:srgbClr val="1E3D5C"/>
          </a:solidFill>
          <a:ln w="12700">
            <a:solidFill>
              <a:srgbClr val="2E5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9744" y="1298448"/>
            <a:ext cx="1993392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1371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$450K+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01184" y="18470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company rate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per program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01184" y="2377440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15% improvement on preferred vendors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86016" y="1298448"/>
            <a:ext cx="1993392" cy="1627632"/>
          </a:xfrm>
          <a:prstGeom prst="rect">
            <a:avLst/>
          </a:prstGeom>
          <a:solidFill>
            <a:srgbClr val="1E3D5C"/>
          </a:solidFill>
          <a:ln w="12700">
            <a:solidFill>
              <a:srgbClr val="2E5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86016" y="1298448"/>
            <a:ext cx="1993392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7456" y="1371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→ 1 hr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77456" y="18470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completion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77456" y="2377440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 vs. manual exercise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8229600" cy="1078992"/>
          </a:xfrm>
          <a:prstGeom prst="rect">
            <a:avLst/>
          </a:prstGeom>
          <a:solidFill>
            <a:srgbClr val="1E3D5C"/>
          </a:solidFill>
          <a:ln w="12700">
            <a:solidFill>
              <a:srgbClr val="2E55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35808"/>
            <a:ext cx="54864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090672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engineering firm that can walk into a bid room, open a live dashboard showing real-time AFE tracking, and say their service companies get paid in 35 days instead of 58 — that firm is having a fundamentally different conversation with operators than everyone else in the room."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 |  entermyinvoice.com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0" y="0"/>
            <a:ext cx="54864" cy="514350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pic>
        <p:nvPicPr>
          <p:cNvPr id="4" name="Image 0" descr="/home/claude/emi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1318656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686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See It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Next Well?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put EMI on one well — at no cost to you. You'll see live AFE tracking, digital ticket approvals, and automated invoice submission in a real production environment.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798064"/>
            <a:ext cx="237744" cy="237744"/>
          </a:xfrm>
          <a:prstGeom prst="ellipse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798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6384" y="276148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Well Agreement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6384" y="296265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upcoming well — we configure EMI to your AFE template and operator portal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3255264"/>
            <a:ext cx="237744" cy="237744"/>
          </a:xfrm>
          <a:prstGeom prst="ellipse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2552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86384" y="321868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Onboarding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6384" y="341985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mobile app walkthrough for your company man. No IT required.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3712464"/>
            <a:ext cx="237744" cy="237744"/>
          </a:xfrm>
          <a:prstGeom prst="ellipse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712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86384" y="367588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Day 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6384" y="387705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ticket captured digitally on spud day. Dashboard live for you and your operator.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57200" y="4169664"/>
            <a:ext cx="237744" cy="237744"/>
          </a:xfrm>
          <a:prstGeom prst="ellipse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169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86384" y="413308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Expand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6384" y="433425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Post-well review of time saved, disputes avoided, and DSO improvement. Expand to full program.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669280" y="548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669280" y="1097280"/>
            <a:ext cx="3200400" cy="640080"/>
          </a:xfrm>
          <a:prstGeom prst="rect">
            <a:avLst/>
          </a:prstGeom>
          <a:solidFill>
            <a:srgbClr val="162538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779008" y="1152144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779008" y="1371600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entermyinvoice.com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0" y="1847088"/>
            <a:ext cx="3200400" cy="640080"/>
          </a:xfrm>
          <a:prstGeom prst="rect">
            <a:avLst/>
          </a:prstGeom>
          <a:solidFill>
            <a:srgbClr val="162538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779008" y="190195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779008" y="2121408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info@entermyinvoice.com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669280" y="2596896"/>
            <a:ext cx="3200400" cy="640080"/>
          </a:xfrm>
          <a:prstGeom prst="rect">
            <a:avLst/>
          </a:prstGeom>
          <a:solidFill>
            <a:srgbClr val="162538"/>
          </a:solidFill>
          <a:ln w="12700">
            <a:solidFill>
              <a:srgbClr val="2435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779008" y="265176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779008" y="2871216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first well — no commitment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669280" y="3401568"/>
            <a:ext cx="3200400" cy="82296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0" y="340156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tickets.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invoices.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payment.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40A10"/>
          </a:solidFill>
          <a:ln w="12700">
            <a:solidFill>
              <a:srgbClr val="040A1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4901184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Enter My Invoice (EMI)  |  Confidential — For Discussion Purposes Only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EMI AFE Cost Dashboard — Engineering Firm Value Proposition</dc:title>
  <dc:subject>PptxGenJS Presentation</dc:subject>
  <dc:creator>Enter My Invoice (EMI)</dc:creator>
  <cp:lastModifiedBy>Enter My Invoice (EMI)</cp:lastModifiedBy>
  <cp:revision>1</cp:revision>
  <dcterms:created xsi:type="dcterms:W3CDTF">2026-05-19T03:13:02Z</dcterms:created>
  <dcterms:modified xsi:type="dcterms:W3CDTF">2026-05-19T03:13:02Z</dcterms:modified>
</cp:coreProperties>
</file>